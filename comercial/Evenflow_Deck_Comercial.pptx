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queremos entender onde seu evento perde tempo, margem ou previsibilidade, e mostrar uma operação que faça sentido para o seu negócio. Não abrir falando de tecnologia.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estamos aqui para trocar uma marca por outra. Estamos aqui para tirar atritos que custam dinheiro e energia da equipe. Perguntar qual desses quatro pesa mais no evento dele e deixar ele falar.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frases, quatro ganhos. Não listar funcionalidade: cada linha responde o que melhora para o evento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público precisa encontrar o ingresso com facilidade. Quando isso acontece, sua equipe responde menos mensagens e a chegada ao evento fica mais tranquila.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Demonstrar ao vivo: ler um QR Code válido e repetir a leitura para mostrar o bloqueio de duplicidade. Nunca usar ingresso de cliente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painel não substitui a decisão do produtor. Ele reduz o tempo para enxergar o que está acontecendo.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Preencha a coluna da direita na frente dele, com a proposta ou o extrato que ele tiver. NUNCA afirme que a Evenflow tem a menor taxa: Eventim.Light publica 6% no canal próprio, TuaEntrada 7%, Eventbrite 6,99% no Essentials, Lets.events a partir de 7,99% e TIKETT 5% no plano gratuito. O piso por ingresso é a vantagem concreta: num ingresso de R$ 30, a Sympla cobra o mínimo de R$ 3,99 (13,3%) e a Evenflow cobra R$ 2,40.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use este slide depois de perguntar se ele absorve ou repassa a taxa hoje. Se ele repassa, o custo dele na plataforma atual pode ser perto de zero e esta comparação não se sustenta — nesse caso vá para preço final ao comprador e para operação. Abrir a planilha e preencher com os números reais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produtor perguntar sobre reconhecimento facial: ainda não oferecemos como recurso ativo. Nunca dar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pedindo o compromisso concreto: uma conversa de 20 minutos com os números do próximo evento na mão.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c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pic>
        <p:nvPicPr>
          <p:cNvPr id="3" name="Image 1" descr="assets/eventflow_roxo_branco_transpar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1417320" cy="56509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228600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próxima edição pode vender</a:t>
            </a:r>
            <a:endParaRPr lang="en-US" sz="4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0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operar com mais controle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422452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venda de ingressos e operação de eventos, com atendimento próximo ao produtor do Vale do Aço.</a:t>
            </a:r>
            <a:endParaRPr lang="en-US" sz="15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  ·  Setembro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operação pressiona o resultado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91109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pouco clara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9514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se sabe quanto sai de cada ingresso, a margem real só aparece no fechamento.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91109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com atrito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29514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a mais no caminho até o pagamento é uma chance de o comprador desistir.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87705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concentrada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26110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Fila, dúvida sobre ingresso e risco de entrada duplicada acontecem no mesmo lugar e na mesma hora.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877056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fragmentada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426110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vendas, receita e entrada em um lugar só, a decisão sobre lote e divulgação chega tarde.</a:t>
            </a:r>
            <a:endParaRPr lang="en-US" sz="1300" dirty="0"/>
          </a:p>
        </p:txBody>
      </p:sp>
      <p:pic>
        <p:nvPicPr>
          <p:cNvPr id="16" name="Image 0" descr="assets/eventflow_roxo_branco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91072"/>
            <a:ext cx="841248" cy="3355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9270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PARA O PRODUTOR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Margem, operação e visibilidade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990088" y="1874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53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digital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33288" y="1874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53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7220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validada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76488" y="1874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53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2487168"/>
            <a:ext cx="10789920" cy="0"/>
          </a:xfrm>
          <a:prstGeom prst="line">
            <a:avLst/>
          </a:prstGeom>
          <a:noFill/>
          <a:ln w="12700">
            <a:solidFill>
              <a:srgbClr val="2A24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118104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9718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decide, por evento, se absorve a taxa de 8% ou a repassa ao comprador.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3232" y="3867912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7216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comprador recebe o ingresso digital e acessa por link ou por e-mail, com ou sem conta criada.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13232" y="4617720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44714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equipe valida a entrada por QR Code e vê na hora se aquele ingresso já foi usado.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13232" y="5367528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" y="52212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reúne vendas, receita, check-ins e o resumo financeiro do evento.</a:t>
            </a:r>
            <a:endParaRPr lang="en-US" sz="1450" dirty="0"/>
          </a:p>
        </p:txBody>
      </p:sp>
      <p:pic>
        <p:nvPicPr>
          <p:cNvPr id="20" name="Image 0" descr="assets/eventflow_roxo_branco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91072"/>
            <a:ext cx="841248" cy="33558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09270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EXPERIÊNCIA DE COMPRA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checkout ao ingresso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online, confirmação por e-mail com link de acesso ao pedido, ingresso digital e opção de baixar o PDF.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212848"/>
            <a:ext cx="3310128" cy="2834640"/>
          </a:xfrm>
          <a:prstGeom prst="roundRect">
            <a:avLst>
              <a:gd name="adj" fmla="val 1935"/>
            </a:avLst>
          </a:prstGeom>
          <a:solidFill>
            <a:srgbClr val="13101D"/>
          </a:solidFill>
          <a:ln w="12700">
            <a:solidFill>
              <a:srgbClr val="2A244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50392" y="3246120"/>
            <a:ext cx="2980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print 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517550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do evento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seleção de lote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2212848"/>
            <a:ext cx="3310128" cy="2834640"/>
          </a:xfrm>
          <a:prstGeom prst="roundRect">
            <a:avLst>
              <a:gd name="adj" fmla="val 1935"/>
            </a:avLst>
          </a:prstGeom>
          <a:solidFill>
            <a:srgbClr val="13101D"/>
          </a:solidFill>
          <a:ln w="12700">
            <a:solidFill>
              <a:srgbClr val="2A244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489704" y="3246120"/>
            <a:ext cx="2980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print 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325112" y="517550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e confirmação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e-mail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64424" y="2212848"/>
            <a:ext cx="3310128" cy="2834640"/>
          </a:xfrm>
          <a:prstGeom prst="roundRect">
            <a:avLst>
              <a:gd name="adj" fmla="val 1935"/>
            </a:avLst>
          </a:prstGeom>
          <a:solidFill>
            <a:srgbClr val="13101D"/>
          </a:solidFill>
          <a:ln w="12700">
            <a:solidFill>
              <a:srgbClr val="2A244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129016" y="3246120"/>
            <a:ext cx="29809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print 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964424" y="5175504"/>
            <a:ext cx="3310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digital com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e PDF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6291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do produto. Dados demonstrativos, sem dados pessoais e sem QR Code válido.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9270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com validação de ingresso único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5989320" cy="3749040"/>
          </a:xfrm>
          <a:prstGeom prst="roundRect">
            <a:avLst>
              <a:gd name="adj" fmla="val 1463"/>
            </a:avLst>
          </a:prstGeom>
          <a:solidFill>
            <a:srgbClr val="13101D"/>
          </a:solidFill>
          <a:ln w="12700">
            <a:solidFill>
              <a:srgbClr val="2A2440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850392" y="3639312"/>
            <a:ext cx="5660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print: tela de check-in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(leitura válida e tentativa duplicada)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949440" y="2313432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96912" y="219456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por QR Code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96912" y="245973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entrada, pelo celular da própria equipe.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3300984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96912" y="3182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imediata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296912" y="34472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 válido, já utilizado ou inválido, na hora da leitura.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49440" y="4288536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96912" y="4169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check-in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4434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 fica registrada para conferência depois do evento.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5276088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96912" y="515721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móvel com sincronização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oscilação de conexão. A operação real deve ser testada com os seus aparelhos antes dos portões abrirem.</a:t>
            </a:r>
            <a:endParaRPr lang="en-US" sz="1250" dirty="0"/>
          </a:p>
        </p:txBody>
      </p:sp>
      <p:pic>
        <p:nvPicPr>
          <p:cNvPr id="18" name="Image 0" descr="assets/eventflow_roxo_branco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91072"/>
            <a:ext cx="841248" cy="33558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9270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VISÃO DO PRODUTOR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 entrada em uma visão só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13232" y="2331720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212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e receita líquida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2898648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9848" y="2779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vendidos por lote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3465576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33467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 e taxa de entrada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4032504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3913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13232" y="4599432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4480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pendentes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13232" y="5166360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5047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Extrato e taxas retidas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92040" y="2148840"/>
            <a:ext cx="6583680" cy="3657600"/>
          </a:xfrm>
          <a:prstGeom prst="roundRect">
            <a:avLst>
              <a:gd name="adj" fmla="val 1500"/>
            </a:avLst>
          </a:prstGeom>
          <a:solidFill>
            <a:srgbClr val="13101D"/>
          </a:solidFill>
          <a:ln w="12700">
            <a:solidFill>
              <a:srgbClr val="2A2440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056632" y="3593592"/>
            <a:ext cx="6254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print: painel do organizador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5925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demonstrativos.</a:t>
            </a:r>
            <a:endParaRPr lang="en-US" sz="1050" dirty="0"/>
          </a:p>
        </p:txBody>
      </p:sp>
      <p:pic>
        <p:nvPicPr>
          <p:cNvPr id="19" name="Image 0" descr="assets/eventflow_roxo_branco_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291072"/>
            <a:ext cx="841248" cy="335585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270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pelo custo total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1790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comissão é a primeira linha da conta. Estas são as sete que decidem quanto sobra no seu evento.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0" y="1975104"/>
            <a:ext cx="3474720" cy="3931920"/>
          </a:xfrm>
          <a:prstGeom prst="roundRect">
            <a:avLst>
              <a:gd name="adj" fmla="val 1316"/>
            </a:avLst>
          </a:prstGeom>
          <a:solidFill>
            <a:srgbClr val="1A1330"/>
          </a:solidFill>
          <a:ln w="12700">
            <a:solidFill>
              <a:srgbClr val="1A13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4068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Evenflow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2084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plataforma hoje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10789920" cy="0"/>
          </a:xfrm>
          <a:prstGeom prst="line">
            <a:avLst/>
          </a:prstGeom>
          <a:noFill/>
          <a:ln w="12700">
            <a:solidFill>
              <a:srgbClr val="2A2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63347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sobre o ingresso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633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0" y="2944368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089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mínimo por ingresso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3108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69680" y="3419856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58444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cobrado à parte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584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0" y="3895344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05993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paga a taxa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40599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escolhe, por evento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869680" y="4370832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53542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Mensalidade, setup ou exclusividade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5354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69680" y="4846320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501091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dinheiro fica disponível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5010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confirmar]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9680" y="5321808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4864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para antecipar o recebimento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40680" y="5486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confirmar]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69680" y="5797296"/>
            <a:ext cx="2468880" cy="0"/>
          </a:xfrm>
          <a:prstGeom prst="line">
            <a:avLst/>
          </a:prstGeom>
          <a:noFill/>
          <a:ln w="12700">
            <a:solidFill>
              <a:srgbClr val="3A315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6053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 brasileiro a comissão publicada vai de 5% a 20%, conforme a plataforma, o canal de venda e o plano contratado. Levantamento em fontes oficiais, 14/09/2026. A coluna da direita se preenche com a proposta escrita do concorrente, não com lembrança.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9270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85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fica no seu evento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17904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em que você absorve a taxa. Na reunião trocamos pelos seus números e pelo seu cenário de repasse.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762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ingressos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74920" y="2176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596896"/>
            <a:ext cx="6400800" cy="0"/>
          </a:xfrm>
          <a:prstGeom prst="line">
            <a:avLst/>
          </a:prstGeom>
          <a:noFill/>
          <a:ln w="12700">
            <a:solidFill>
              <a:srgbClr val="1E19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7977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médio do ingresso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074920" y="27797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R$ 65,00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6400800" cy="0"/>
          </a:xfrm>
          <a:prstGeom prst="line">
            <a:avLst/>
          </a:prstGeom>
          <a:noFill/>
          <a:ln w="12700">
            <a:solidFill>
              <a:srgbClr val="1E19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estimada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3383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R$ 39.000,00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6400800" cy="0"/>
          </a:xfrm>
          <a:prstGeom prst="line">
            <a:avLst/>
          </a:prstGeom>
          <a:noFill/>
          <a:ln w="12700">
            <a:solidFill>
              <a:srgbClr val="1E19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867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na Evenflow  ·  8%, sem piso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986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R$ 3.120,00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407408"/>
            <a:ext cx="6400800" cy="0"/>
          </a:xfrm>
          <a:prstGeom prst="line">
            <a:avLst/>
          </a:prstGeom>
          <a:noFill/>
          <a:ln w="12700">
            <a:solidFill>
              <a:srgbClr val="1E19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5902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no cenário comparado  ·  10% + 2,25%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4590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R$ 4.777,50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5010912"/>
            <a:ext cx="6400800" cy="0"/>
          </a:xfrm>
          <a:prstGeom prst="line">
            <a:avLst/>
          </a:prstGeom>
          <a:noFill/>
          <a:ln w="12700">
            <a:solidFill>
              <a:srgbClr val="1E19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103120"/>
            <a:ext cx="3840480" cy="2240280"/>
          </a:xfrm>
          <a:prstGeom prst="roundRect">
            <a:avLst>
              <a:gd name="adj" fmla="val 2449"/>
            </a:avLst>
          </a:prstGeom>
          <a:solidFill>
            <a:srgbClr val="1A1330"/>
          </a:solidFill>
          <a:ln w="12700">
            <a:solidFill>
              <a:srgbClr val="2E25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09560" y="23591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neste cenário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7249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R$ 1.657,50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5478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R$ 2,76 por ingresso vendido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3492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repassa a taxa ao comprador, a conta muda dos dois lados e a diferença pode ser outra. A planilha calcula os dois cenários.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704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comparado: Sympla, 10% de serviço mais 2% a 2,5% de processamento, consultado em 14/09/2026. A própria Sympla publica informação contraditória sobre quem paga o processamento — confirme no checkout do evento antes de usar este número. Não inclui tributos, piso por ingresso, parcelamento nem antecipação. Estimativa de custo, não garantia de resultado.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92708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so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858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do seu evento, com evolução declarada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13232" y="2258568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9848" y="21031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e acompanhamento no Vale do Aço.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13232" y="2971800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69848" y="28163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antes da abertura das vendas.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" y="3685032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9848" y="3529584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operação com a sua equipe e os seus aparelhos.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3232" y="4398264"/>
            <a:ext cx="91440" cy="91440"/>
          </a:xfrm>
          <a:prstGeom prst="ellipse">
            <a:avLst/>
          </a:prstGeom>
          <a:solidFill>
            <a:srgbClr val="6534FC"/>
          </a:solidFill>
          <a:ln w="12700">
            <a:solidFill>
              <a:srgbClr val="6534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69848" y="4242816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e responsável definidos para o dia do evento.  [SLA a confirmar]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0" y="2011680"/>
            <a:ext cx="4617720" cy="2788920"/>
          </a:xfrm>
          <a:prstGeom prst="roundRect">
            <a:avLst>
              <a:gd name="adj" fmla="val 1967"/>
            </a:avLst>
          </a:prstGeom>
          <a:solidFill>
            <a:srgbClr val="16122A"/>
          </a:solidFill>
          <a:ln w="12700">
            <a:solidFill>
              <a:srgbClr val="2E255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780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ESTUDO  ·  SEM DATA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1780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Reconhecimento facial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31546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no roadmap. Entra na conversa quando a viabilidade operacional, o consentimento e os requisitos de LGPD estiverem resolvidos. Não é recurso disponível hoje e não tem prazo prometido.</a:t>
            </a:r>
            <a:endParaRPr lang="en-US" sz="1250" dirty="0"/>
          </a:p>
        </p:txBody>
      </p:sp>
      <p:pic>
        <p:nvPicPr>
          <p:cNvPr id="17" name="Image 1" descr="assets/eventflow_roxo_branco_transpar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91072"/>
            <a:ext cx="841248" cy="33558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927080" y="6309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9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051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montar o cenário</a:t>
            </a:r>
            <a:endParaRPr lang="en-US" sz="3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sua próxima edição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24612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07592" y="32461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326440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Formato, público, preço e a operação que você usa hoje.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0624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07592" y="4206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422452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custo feita com os números do seu evento.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51663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98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307592" y="5166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017520" y="518464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de compra e entrada testadas antes de abrir vendas.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989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responsável]   ·   [telefone / WhatsApp]   ·   [e-mail]</a:t>
            </a:r>
            <a:endParaRPr lang="en-US" sz="1200" dirty="0"/>
          </a:p>
        </p:txBody>
      </p:sp>
      <p:pic>
        <p:nvPicPr>
          <p:cNvPr id="15" name="Image 1" descr="assets/eventflow_roxo_branco_transpar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897880"/>
            <a:ext cx="1234440" cy="4919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Evenflow — Pitch comercial para produtores</dc:title>
  <dc:subject>PptxGenJS Presentation</dc:subject>
  <dc:creator>Evenflow</dc:creator>
  <cp:lastModifiedBy>Evenflow</cp:lastModifiedBy>
  <cp:revision>1</cp:revision>
  <dcterms:created xsi:type="dcterms:W3CDTF">2026-09-14T20:24:41Z</dcterms:created>
  <dcterms:modified xsi:type="dcterms:W3CDTF">2026-09-14T20:24:41Z</dcterms:modified>
</cp:coreProperties>
</file>