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Abertura: queremos entender onde seu evento perde tempo, margem ou previsibilidade, e mostrar uma operação que faça sentido para o seu negócio. Não abrir falando de tecnologia.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Não estamos aqui para trocar uma marca por outra. Estamos aqui para tirar atritos que custam dinheiro e energia da equipe. Perguntar qual desses quatro pesa mais no evento dele e deixar ele falar.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Quatro frases, quatro ganhos. Não listar funcionalidade: cada linha responde o que melhora para o evento dele.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público precisa encontrar o ingresso com facilidade. Quando isso acontece, sua equipe responde menos mensagens e a chegada ao evento fica mais tranquila.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print mostra a recusa por ingresso de outro evento. Na demonstração ao vivo, leia um QR válido e repita a leitura para mostrar também o bloqueio de duplicidade. Nunca usar ingresso de cliente real.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painel não substitui a decisão do produtor. Ele reduz o tempo para enxergar o que está acontecendo.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Preencha a coluna da direita na frente dele, com a proposta ou o extrato que ele tiver. NUNCA afirme que a Evenflow tem a menor taxa: Eventim.Light publica 6% no canal próprio, TuaEntrada 7%, Eventbrite 6,99% no Essentials, Lets.events a partir de 7,99% e TIKETT 5% no plano gratuito. O piso por ingresso é a vantagem concreta: num ingresso de R$ 30, a Sympla cobra o mínimo de R$ 3,99 (13,3%) e a Evenflow cobra R$ 2,40.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Só use este slide depois de perguntar se ele absorve ou repassa a taxa hoje. Se ele repassa, o custo dele na plataforma atual pode ser perto de zero e esta comparação não se sustenta — nesse caso vá para preço final ao comprador e para operação. Abrir a planilha e preencher com os números reais dele.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 o produtor perguntar sobre reconhecimento facial: ainda não oferecemos como recurso ativo. Nunca dar data.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Fechar pedindo o compromisso concreto: uma conversa de 20 minutos com os números do próximo evento na mão.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09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bg_cap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  <p:pic>
        <p:nvPicPr>
          <p:cNvPr id="3" name="Image 1" descr="assets/eventflow_roxo_branco_transparen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566928"/>
            <a:ext cx="1417320" cy="565099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685800" y="2286000"/>
            <a:ext cx="81381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4000" b="1" dirty="0">
                <a:solidFill>
                  <a:srgbClr val="F5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Sua próxima edição pode vender</a:t>
            </a:r>
            <a:endParaRPr lang="en-US" sz="40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4000" b="1" dirty="0">
                <a:solidFill>
                  <a:srgbClr val="F5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operar com mais controle</a:t>
            </a:r>
            <a:endParaRPr lang="en-US" sz="4000" dirty="0"/>
          </a:p>
        </p:txBody>
      </p:sp>
      <p:sp>
        <p:nvSpPr>
          <p:cNvPr id="5" name="Text 1"/>
          <p:cNvSpPr txBox="1"/>
          <p:nvPr/>
        </p:nvSpPr>
        <p:spPr>
          <a:xfrm>
            <a:off x="685800" y="4224528"/>
            <a:ext cx="6766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9C94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Plataforma de venda de ingressos e operação de eventos, com atendimento próximo ao produtor do Vale do Aço.</a:t>
            </a:r>
            <a:endParaRPr lang="en-US" sz="1500" dirty="0"/>
          </a:p>
        </p:txBody>
      </p:sp>
      <p:sp>
        <p:nvSpPr>
          <p:cNvPr id="6" name="Text 2"/>
          <p:cNvSpPr txBox="1"/>
          <p:nvPr/>
        </p:nvSpPr>
        <p:spPr>
          <a:xfrm>
            <a:off x="685800" y="60807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Apresentação comercial  ·  Setembro de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09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A98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PONTO DE PARTIDA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685800"/>
            <a:ext cx="9692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3400" b="1" dirty="0">
                <a:solidFill>
                  <a:srgbClr val="F5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 a operação pressiona o resultado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911096"/>
            <a:ext cx="777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C23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1554480" y="196596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5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Taxa pouco clara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554480" y="2295144"/>
            <a:ext cx="4206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9C94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Quando não se sabe quanto sai de cada ingresso, a margem real só aparece no fechamento.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263640" y="1911096"/>
            <a:ext cx="777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C23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7132320" y="196596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5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Compra com atrito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7132320" y="2295144"/>
            <a:ext cx="4206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9C94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etapa a mais no caminho até o pagamento é uma chance de o comprador desistir.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3877056"/>
            <a:ext cx="777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C23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1554480" y="393192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5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Portaria concentrada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1554480" y="4261104"/>
            <a:ext cx="4206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9C94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Fila, dúvida sobre ingresso e risco de entrada duplicada acontecem no mesmo lugar e na mesma hora.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263640" y="3877056"/>
            <a:ext cx="777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C23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4000" dirty="0"/>
          </a:p>
        </p:txBody>
      </p:sp>
      <p:sp>
        <p:nvSpPr>
          <p:cNvPr id="14" name="Text 12"/>
          <p:cNvSpPr txBox="1"/>
          <p:nvPr/>
        </p:nvSpPr>
        <p:spPr>
          <a:xfrm>
            <a:off x="7132320" y="393192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5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Visão fragmentada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7132320" y="4261104"/>
            <a:ext cx="4206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9C94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vendas, receita e entrada em um lugar só, a decisão sobre lote e divulgação chega tarde.</a:t>
            </a:r>
            <a:endParaRPr lang="en-US" sz="1300" dirty="0"/>
          </a:p>
        </p:txBody>
      </p:sp>
      <p:pic>
        <p:nvPicPr>
          <p:cNvPr id="16" name="Image 0" descr="assets/eventflow_roxo_branco_transparen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6291072"/>
            <a:ext cx="841248" cy="335585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1092708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6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09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A98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MUDA PARA O PRODUTOR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685800"/>
            <a:ext cx="9692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3400" b="1" dirty="0">
                <a:solidFill>
                  <a:srgbClr val="F5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Margem, operação e visibilidade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874520"/>
            <a:ext cx="2331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5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Compra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2990088" y="1874520"/>
            <a:ext cx="411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653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3429000" y="1874520"/>
            <a:ext cx="2331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5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Ingresso digital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5733288" y="1874520"/>
            <a:ext cx="411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653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6172200" y="1874520"/>
            <a:ext cx="2331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5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Entrada validada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8476488" y="1874520"/>
            <a:ext cx="411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653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8915400" y="1874520"/>
            <a:ext cx="2331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5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Acompanhamento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85800" y="2487168"/>
            <a:ext cx="10789920" cy="0"/>
          </a:xfrm>
          <a:prstGeom prst="line">
            <a:avLst/>
          </a:prstGeom>
          <a:noFill/>
          <a:ln w="12700">
            <a:solidFill>
              <a:srgbClr val="2A244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13232" y="3118104"/>
            <a:ext cx="91440" cy="91440"/>
          </a:xfrm>
          <a:prstGeom prst="ellipse">
            <a:avLst/>
          </a:prstGeom>
          <a:solidFill>
            <a:srgbClr val="6534FC"/>
          </a:solidFill>
          <a:ln w="12700">
            <a:solidFill>
              <a:srgbClr val="6534F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69848" y="2971800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F5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Você decide, por evento, se absorve a taxa de 8% ou a repassa ao comprador.</a:t>
            </a:r>
            <a:endParaRPr lang="en-US" sz="1450" dirty="0"/>
          </a:p>
        </p:txBody>
      </p:sp>
      <p:sp>
        <p:nvSpPr>
          <p:cNvPr id="14" name="Shape 12"/>
          <p:cNvSpPr/>
          <p:nvPr/>
        </p:nvSpPr>
        <p:spPr>
          <a:xfrm>
            <a:off x="713232" y="3867912"/>
            <a:ext cx="91440" cy="91440"/>
          </a:xfrm>
          <a:prstGeom prst="ellipse">
            <a:avLst/>
          </a:prstGeom>
          <a:solidFill>
            <a:srgbClr val="6534FC"/>
          </a:solidFill>
          <a:ln w="12700">
            <a:solidFill>
              <a:srgbClr val="6534F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069848" y="3721608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F5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comprador recebe o ingresso digital e acessa por link ou por e-mail, com ou sem conta criada.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713232" y="4617720"/>
            <a:ext cx="91440" cy="91440"/>
          </a:xfrm>
          <a:prstGeom prst="ellipse">
            <a:avLst/>
          </a:prstGeom>
          <a:solidFill>
            <a:srgbClr val="6534FC"/>
          </a:solidFill>
          <a:ln w="12700">
            <a:solidFill>
              <a:srgbClr val="6534F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069848" y="4471416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F5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equipe valida a entrada por QR Code e vê na hora se aquele ingresso já foi usado.</a:t>
            </a:r>
            <a:endParaRPr lang="en-US" sz="1450" dirty="0"/>
          </a:p>
        </p:txBody>
      </p:sp>
      <p:sp>
        <p:nvSpPr>
          <p:cNvPr id="18" name="Shape 16"/>
          <p:cNvSpPr/>
          <p:nvPr/>
        </p:nvSpPr>
        <p:spPr>
          <a:xfrm>
            <a:off x="713232" y="5367528"/>
            <a:ext cx="91440" cy="91440"/>
          </a:xfrm>
          <a:prstGeom prst="ellipse">
            <a:avLst/>
          </a:prstGeom>
          <a:solidFill>
            <a:srgbClr val="6534FC"/>
          </a:solidFill>
          <a:ln w="12700">
            <a:solidFill>
              <a:srgbClr val="6534FC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069848" y="5221224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F5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painel reúne vendas, receita, check-ins e o resumo financeiro do evento.</a:t>
            </a:r>
            <a:endParaRPr lang="en-US" sz="1450" dirty="0"/>
          </a:p>
        </p:txBody>
      </p:sp>
      <p:pic>
        <p:nvPicPr>
          <p:cNvPr id="20" name="Image 0" descr="assets/eventflow_roxo_branco_transparen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6291072"/>
            <a:ext cx="841248" cy="335585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1092708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6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09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A98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EXPERIÊNCIA DE COMPRA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685800"/>
            <a:ext cx="9692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3400" b="1" dirty="0">
                <a:solidFill>
                  <a:srgbClr val="F5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checkout ao ingresso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572768"/>
            <a:ext cx="8778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C94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Compra online, confirmação por e-mail com link de acesso ao pedido, ingresso digital e opção de baixar o PDF.</a:t>
            </a:r>
            <a:endParaRPr lang="en-US" sz="1400" dirty="0"/>
          </a:p>
        </p:txBody>
      </p:sp>
      <p:pic>
        <p:nvPicPr>
          <p:cNvPr id="5" name="Image 0" descr="shots/c_event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8365" y="2286000"/>
            <a:ext cx="3155914" cy="260604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818365" y="2286000"/>
            <a:ext cx="3155914" cy="2606040"/>
          </a:xfrm>
          <a:prstGeom prst="rect">
            <a:avLst/>
          </a:prstGeom>
          <a:ln w="12700">
            <a:solidFill>
              <a:srgbClr val="2E255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18365" y="5010912"/>
            <a:ext cx="315591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F5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Escolha do lote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F5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página do evento</a:t>
            </a:r>
            <a:endParaRPr lang="en-US" sz="1200" dirty="0"/>
          </a:p>
        </p:txBody>
      </p:sp>
      <p:pic>
        <p:nvPicPr>
          <p:cNvPr id="8" name="Image 1" descr="shots/c_checkou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4320" y="2286000"/>
            <a:ext cx="3135066" cy="2606040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4294320" y="2286000"/>
            <a:ext cx="3135066" cy="2606040"/>
          </a:xfrm>
          <a:prstGeom prst="rect">
            <a:avLst/>
          </a:prstGeom>
          <a:ln w="12700">
            <a:solidFill>
              <a:srgbClr val="2E2552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4294320" y="5010912"/>
            <a:ext cx="31350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F5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Checkout com a taxa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F5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8% na tela</a:t>
            </a:r>
            <a:endParaRPr lang="en-US" sz="1200" dirty="0"/>
          </a:p>
        </p:txBody>
      </p:sp>
      <p:pic>
        <p:nvPicPr>
          <p:cNvPr id="11" name="Image 2" descr="shots/c_ingress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49426" y="2286000"/>
            <a:ext cx="3593729" cy="2606040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7749426" y="2286000"/>
            <a:ext cx="3593729" cy="2606040"/>
          </a:xfrm>
          <a:prstGeom prst="rect">
            <a:avLst/>
          </a:prstGeom>
          <a:ln w="12700">
            <a:solidFill>
              <a:srgbClr val="2E2552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7749426" y="5010912"/>
            <a:ext cx="359372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F5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Ingresso digital,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F5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 Code e PDF</a:t>
            </a:r>
            <a:endParaRPr lang="en-US" sz="1200" dirty="0"/>
          </a:p>
        </p:txBody>
      </p:sp>
      <p:sp>
        <p:nvSpPr>
          <p:cNvPr id="14" name="Text 9"/>
          <p:cNvSpPr txBox="1"/>
          <p:nvPr/>
        </p:nvSpPr>
        <p:spPr>
          <a:xfrm>
            <a:off x="685800" y="6254496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Prints do evento demonstrativo. Dados e valores fictícios; os dados pessoais do comprador ficaram fora do enquadramento e o QR Code foi substituído por um código sem validade.</a:t>
            </a:r>
            <a:endParaRPr lang="en-US" sz="1000" dirty="0"/>
          </a:p>
        </p:txBody>
      </p:sp>
      <p:sp>
        <p:nvSpPr>
          <p:cNvPr id="15" name="Text 10"/>
          <p:cNvSpPr txBox="1"/>
          <p:nvPr/>
        </p:nvSpPr>
        <p:spPr>
          <a:xfrm>
            <a:off x="1092708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6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09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A98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PORTARIA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685800"/>
            <a:ext cx="9692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3400" b="1" dirty="0">
                <a:solidFill>
                  <a:srgbClr val="F5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Check-in com validação de ingresso único</a:t>
            </a:r>
            <a:endParaRPr lang="en-US" sz="3400" dirty="0"/>
          </a:p>
        </p:txBody>
      </p:sp>
      <p:pic>
        <p:nvPicPr>
          <p:cNvPr id="4" name="Image 0" descr="shots/c_check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2148840"/>
            <a:ext cx="5989320" cy="373989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85800" y="2148840"/>
            <a:ext cx="5989320" cy="3739896"/>
          </a:xfrm>
          <a:prstGeom prst="rect">
            <a:avLst/>
          </a:prstGeom>
          <a:ln w="12700">
            <a:solidFill>
              <a:srgbClr val="2E2552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949440" y="2313432"/>
            <a:ext cx="91440" cy="91440"/>
          </a:xfrm>
          <a:prstGeom prst="ellipse">
            <a:avLst/>
          </a:prstGeom>
          <a:solidFill>
            <a:srgbClr val="6534FC"/>
          </a:solidFill>
          <a:ln w="12700">
            <a:solidFill>
              <a:srgbClr val="6534FC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296912" y="2194560"/>
            <a:ext cx="411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Leitura por QR Code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7296912" y="2459736"/>
            <a:ext cx="4160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9C94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entrada, pelo celular da própria equipe.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949440" y="3300984"/>
            <a:ext cx="91440" cy="91440"/>
          </a:xfrm>
          <a:prstGeom prst="ellipse">
            <a:avLst/>
          </a:prstGeom>
          <a:solidFill>
            <a:srgbClr val="6534FC"/>
          </a:solidFill>
          <a:ln w="12700">
            <a:solidFill>
              <a:srgbClr val="6534FC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296912" y="3182112"/>
            <a:ext cx="411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 imediata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7296912" y="3447288"/>
            <a:ext cx="4160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9C94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Liberado ou recusado na hora, com o motivo na tela e no histórico.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6949440" y="4288536"/>
            <a:ext cx="91440" cy="91440"/>
          </a:xfrm>
          <a:prstGeom prst="ellipse">
            <a:avLst/>
          </a:prstGeom>
          <a:solidFill>
            <a:srgbClr val="6534FC"/>
          </a:solidFill>
          <a:ln w="12700">
            <a:solidFill>
              <a:srgbClr val="6534F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296912" y="4169664"/>
            <a:ext cx="411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 de check-in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7296912" y="4434840"/>
            <a:ext cx="4160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9C94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entrada fica registrada para conferência depois do evento.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6949440" y="5276088"/>
            <a:ext cx="91440" cy="91440"/>
          </a:xfrm>
          <a:prstGeom prst="ellipse">
            <a:avLst/>
          </a:prstGeom>
          <a:solidFill>
            <a:srgbClr val="6534FC"/>
          </a:solidFill>
          <a:ln w="12700">
            <a:solidFill>
              <a:srgbClr val="6534F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296912" y="5157216"/>
            <a:ext cx="411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Fluxo móvel com sincronização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7296912" y="5422392"/>
            <a:ext cx="4160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9C94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Preparado para oscilação de conexão. A operação real deve ser testada com os seus aparelhos antes dos portões abrirem.</a:t>
            </a:r>
            <a:endParaRPr lang="en-US" sz="1250" dirty="0"/>
          </a:p>
        </p:txBody>
      </p:sp>
      <p:pic>
        <p:nvPicPr>
          <p:cNvPr id="18" name="Image 1" descr="assets/eventflow_roxo_branco_transparen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291072"/>
            <a:ext cx="841248" cy="335585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1092708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6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09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A98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VISÃO DO PRODUTOR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685800"/>
            <a:ext cx="9692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3400" b="1" dirty="0">
                <a:solidFill>
                  <a:srgbClr val="F5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Vendas e entrada em uma visão só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713232" y="2331720"/>
            <a:ext cx="91440" cy="91440"/>
          </a:xfrm>
          <a:prstGeom prst="ellipse">
            <a:avLst/>
          </a:prstGeom>
          <a:solidFill>
            <a:srgbClr val="6534FC"/>
          </a:solidFill>
          <a:ln w="12700">
            <a:solidFill>
              <a:srgbClr val="6534F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69848" y="2212848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5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Receita bruta e receita líquida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713232" y="2898648"/>
            <a:ext cx="91440" cy="91440"/>
          </a:xfrm>
          <a:prstGeom prst="ellipse">
            <a:avLst/>
          </a:prstGeom>
          <a:solidFill>
            <a:srgbClr val="6534FC"/>
          </a:solidFill>
          <a:ln w="12700">
            <a:solidFill>
              <a:srgbClr val="6534F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69848" y="2779776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5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Ingressos vendidos por lote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713232" y="3465576"/>
            <a:ext cx="91440" cy="91440"/>
          </a:xfrm>
          <a:prstGeom prst="ellipse">
            <a:avLst/>
          </a:prstGeom>
          <a:solidFill>
            <a:srgbClr val="6534FC"/>
          </a:solidFill>
          <a:ln w="12700">
            <a:solidFill>
              <a:srgbClr val="6534F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69848" y="3346704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5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Check-ins e taxa de entrada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713232" y="4032504"/>
            <a:ext cx="91440" cy="91440"/>
          </a:xfrm>
          <a:prstGeom prst="ellipse">
            <a:avLst/>
          </a:prstGeom>
          <a:solidFill>
            <a:srgbClr val="6534FC"/>
          </a:solidFill>
          <a:ln w="12700">
            <a:solidFill>
              <a:srgbClr val="6534F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69848" y="3913632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5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Taxa de conversão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13232" y="4599432"/>
            <a:ext cx="91440" cy="91440"/>
          </a:xfrm>
          <a:prstGeom prst="ellipse">
            <a:avLst/>
          </a:prstGeom>
          <a:solidFill>
            <a:srgbClr val="6534FC"/>
          </a:solidFill>
          <a:ln w="12700">
            <a:solidFill>
              <a:srgbClr val="6534F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69848" y="448056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5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Pedidos pendentes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713232" y="5166360"/>
            <a:ext cx="91440" cy="91440"/>
          </a:xfrm>
          <a:prstGeom prst="ellipse">
            <a:avLst/>
          </a:prstGeom>
          <a:solidFill>
            <a:srgbClr val="6534FC"/>
          </a:solidFill>
          <a:ln w="12700">
            <a:solidFill>
              <a:srgbClr val="6534F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069848" y="5047488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5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Extrato e taxas retidas</a:t>
            </a:r>
            <a:endParaRPr lang="en-US" sz="1350" dirty="0"/>
          </a:p>
        </p:txBody>
      </p:sp>
      <p:pic>
        <p:nvPicPr>
          <p:cNvPr id="16" name="Image 0" descr="shots/c_dash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92040" y="2148840"/>
            <a:ext cx="6583680" cy="3593592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4892040" y="2148840"/>
            <a:ext cx="6583680" cy="3593592"/>
          </a:xfrm>
          <a:prstGeom prst="rect">
            <a:avLst/>
          </a:prstGeom>
          <a:ln w="12700">
            <a:solidFill>
              <a:srgbClr val="2E2552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4892040" y="58704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Painel real da Evenflow. Dados demonstrativos.</a:t>
            </a:r>
            <a:endParaRPr lang="en-US" sz="1000" dirty="0"/>
          </a:p>
        </p:txBody>
      </p:sp>
      <p:pic>
        <p:nvPicPr>
          <p:cNvPr id="19" name="Image 1" descr="assets/eventflow_roxo_branco_transparen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291072"/>
            <a:ext cx="841248" cy="335585"/>
          </a:xfrm>
          <a:prstGeom prst="rect">
            <a:avLst/>
          </a:prstGeom>
        </p:spPr>
      </p:pic>
      <p:sp>
        <p:nvSpPr>
          <p:cNvPr id="20" name="Text 16"/>
          <p:cNvSpPr txBox="1"/>
          <p:nvPr/>
        </p:nvSpPr>
        <p:spPr>
          <a:xfrm>
            <a:off x="1092708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6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09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A98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COMPARATIVO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68580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3400" b="1" dirty="0">
                <a:solidFill>
                  <a:srgbClr val="F5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pelo custo total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517904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C94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comissão é a primeira linha da conta. Estas são as sete que decidem quanto sobra no seu evento.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212080" y="1975104"/>
            <a:ext cx="3474720" cy="3931920"/>
          </a:xfrm>
          <a:prstGeom prst="roundRect">
            <a:avLst>
              <a:gd name="adj" fmla="val 1316"/>
            </a:avLst>
          </a:prstGeom>
          <a:solidFill>
            <a:srgbClr val="1A1330"/>
          </a:solidFill>
          <a:ln w="12700">
            <a:solidFill>
              <a:srgbClr val="1A133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40680" y="208483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A98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Evenflow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8869680" y="2084832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A98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Sua plataforma hoje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685800" y="2468880"/>
            <a:ext cx="10789920" cy="0"/>
          </a:xfrm>
          <a:prstGeom prst="line">
            <a:avLst/>
          </a:prstGeom>
          <a:noFill/>
          <a:ln w="12700">
            <a:solidFill>
              <a:srgbClr val="2A244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85800" y="2633472"/>
            <a:ext cx="4526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C94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Comissão sobre o ingresso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5440680" y="2633472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5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8%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8869680" y="2944368"/>
            <a:ext cx="2468880" cy="0"/>
          </a:xfrm>
          <a:prstGeom prst="line">
            <a:avLst/>
          </a:prstGeom>
          <a:noFill/>
          <a:ln w="12700">
            <a:solidFill>
              <a:srgbClr val="3A315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85800" y="3108960"/>
            <a:ext cx="4526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C94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Piso mínimo por ingresso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5440680" y="3108960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5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há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869680" y="3419856"/>
            <a:ext cx="2468880" cy="0"/>
          </a:xfrm>
          <a:prstGeom prst="line">
            <a:avLst/>
          </a:prstGeom>
          <a:noFill/>
          <a:ln w="12700">
            <a:solidFill>
              <a:srgbClr val="3A3159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85800" y="3584448"/>
            <a:ext cx="4526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C94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Processamento cobrado à parte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5440680" y="3584448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5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8869680" y="3895344"/>
            <a:ext cx="2468880" cy="0"/>
          </a:xfrm>
          <a:prstGeom prst="line">
            <a:avLst/>
          </a:prstGeom>
          <a:noFill/>
          <a:ln w="12700">
            <a:solidFill>
              <a:srgbClr val="3A3159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85800" y="4059936"/>
            <a:ext cx="4526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C94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Quem paga a taxa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5440680" y="4059936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5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Você escolhe, por evento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8869680" y="4370832"/>
            <a:ext cx="2468880" cy="0"/>
          </a:xfrm>
          <a:prstGeom prst="line">
            <a:avLst/>
          </a:prstGeom>
          <a:noFill/>
          <a:ln w="12700">
            <a:solidFill>
              <a:srgbClr val="3A3159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85800" y="4535424"/>
            <a:ext cx="4526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C94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Mensalidade, setup ou exclusividade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5440680" y="4535424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5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há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8869680" y="4846320"/>
            <a:ext cx="2468880" cy="0"/>
          </a:xfrm>
          <a:prstGeom prst="line">
            <a:avLst/>
          </a:prstGeom>
          <a:noFill/>
          <a:ln w="12700">
            <a:solidFill>
              <a:srgbClr val="3A3159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85800" y="5010912"/>
            <a:ext cx="4526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C94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Quando o dinheiro fica disponível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5440680" y="5010912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5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[a confirmar]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8869680" y="5321808"/>
            <a:ext cx="2468880" cy="0"/>
          </a:xfrm>
          <a:prstGeom prst="line">
            <a:avLst/>
          </a:prstGeom>
          <a:noFill/>
          <a:ln w="12700">
            <a:solidFill>
              <a:srgbClr val="3A3159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85800" y="5486400"/>
            <a:ext cx="4526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C94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 para antecipar o recebimento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5440680" y="5486400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5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[a confirmar]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8869680" y="5797296"/>
            <a:ext cx="2468880" cy="0"/>
          </a:xfrm>
          <a:prstGeom prst="line">
            <a:avLst/>
          </a:prstGeom>
          <a:noFill/>
          <a:ln w="12700">
            <a:solidFill>
              <a:srgbClr val="3A3159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85800" y="6053328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6E6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mercado brasileiro a comissão publicada vai de 5% a 20%, conforme a plataforma, o canal de venda e o plano contratado. Levantamento em fontes oficiais, 14/09/2026. A coluna da direita se preenche com a proposta escrita do concorrente, não com lembrança.</a:t>
            </a:r>
            <a:endParaRPr lang="en-US" sz="950" dirty="0"/>
          </a:p>
        </p:txBody>
      </p:sp>
      <p:sp>
        <p:nvSpPr>
          <p:cNvPr id="31" name="Text 29"/>
          <p:cNvSpPr txBox="1"/>
          <p:nvPr/>
        </p:nvSpPr>
        <p:spPr>
          <a:xfrm>
            <a:off x="1092708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6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09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A98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SIMULAÇÃO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68580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3400" b="1" dirty="0">
                <a:solidFill>
                  <a:srgbClr val="F5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Quanto fica no seu evento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517904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C94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Cenário em que você absorve a taxa. Na reunião trocamos pelos seus números e pelo seu cenário de repasse.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217627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C94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 de ingressos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074920" y="2176272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F5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600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85800" y="2596896"/>
            <a:ext cx="6400800" cy="0"/>
          </a:xfrm>
          <a:prstGeom prst="line">
            <a:avLst/>
          </a:prstGeom>
          <a:noFill/>
          <a:ln w="12700">
            <a:solidFill>
              <a:srgbClr val="1E193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85800" y="2779776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C94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Preço médio do ingresso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5074920" y="2779776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F5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R$ 65,00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3200400"/>
            <a:ext cx="6400800" cy="0"/>
          </a:xfrm>
          <a:prstGeom prst="line">
            <a:avLst/>
          </a:prstGeom>
          <a:noFill/>
          <a:ln w="12700">
            <a:solidFill>
              <a:srgbClr val="1E193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338328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C94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Receita bruta estimada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5074920" y="338328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F5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R$ 39.000,00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85800" y="3803904"/>
            <a:ext cx="6400800" cy="0"/>
          </a:xfrm>
          <a:prstGeom prst="line">
            <a:avLst/>
          </a:prstGeom>
          <a:noFill/>
          <a:ln w="12700">
            <a:solidFill>
              <a:srgbClr val="1E193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85800" y="3986784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C94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 na Evenflow  ·  8%, sem piso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5074920" y="3986784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F5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R$ 3.120,00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85800" y="4407408"/>
            <a:ext cx="6400800" cy="0"/>
          </a:xfrm>
          <a:prstGeom prst="line">
            <a:avLst/>
          </a:prstGeom>
          <a:noFill/>
          <a:ln w="12700">
            <a:solidFill>
              <a:srgbClr val="1E193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85800" y="4590288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C94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 no cenário comparado  ·  10% + 2,25%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5074920" y="459028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F5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R$ 4.777,50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685800" y="5010912"/>
            <a:ext cx="6400800" cy="0"/>
          </a:xfrm>
          <a:prstGeom prst="line">
            <a:avLst/>
          </a:prstGeom>
          <a:noFill/>
          <a:ln w="12700">
            <a:solidFill>
              <a:srgbClr val="1E193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635240" y="2103120"/>
            <a:ext cx="3840480" cy="2240280"/>
          </a:xfrm>
          <a:prstGeom prst="roundRect">
            <a:avLst>
              <a:gd name="adj" fmla="val 2449"/>
            </a:avLst>
          </a:prstGeom>
          <a:solidFill>
            <a:srgbClr val="1A1330"/>
          </a:solidFill>
          <a:ln w="12700">
            <a:solidFill>
              <a:srgbClr val="2E255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909560" y="2359152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A98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Diferença neste cenário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7909560" y="2724912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5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R$ 1.657,50</a:t>
            </a:r>
            <a:endParaRPr lang="en-US" sz="3400" dirty="0"/>
          </a:p>
        </p:txBody>
      </p:sp>
      <p:sp>
        <p:nvSpPr>
          <p:cNvPr id="23" name="Text 21"/>
          <p:cNvSpPr txBox="1"/>
          <p:nvPr/>
        </p:nvSpPr>
        <p:spPr>
          <a:xfrm>
            <a:off x="7909560" y="3547872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9C94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R$ 2,76 por ingresso vendido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685800" y="5349240"/>
            <a:ext cx="10607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F5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você repassa a taxa ao comprador, a conta muda dos dois lados e a diferença pode ser outra. A planilha calcula os dois cenários.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685800" y="5870448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6E6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Cenário comparado: Sympla, 10% de serviço mais 2% a 2,5% de processamento, consultado em 14/09/2026. A própria Sympla publica informação contraditória sobre quem paga o processamento — confirme no checkout do evento antes de usar este número. Não inclui tributos, piso por ingresso, parcelamento nem antecipação. Estimativa de custo, não garantia de resultado.</a:t>
            </a:r>
            <a:endParaRPr lang="en-US" sz="950" dirty="0"/>
          </a:p>
        </p:txBody>
      </p:sp>
      <p:sp>
        <p:nvSpPr>
          <p:cNvPr id="26" name="Text 24"/>
          <p:cNvSpPr txBox="1"/>
          <p:nvPr/>
        </p:nvSpPr>
        <p:spPr>
          <a:xfrm>
            <a:off x="1092708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6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09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bg_sof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A98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PARCERIA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685800" y="685800"/>
            <a:ext cx="9692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3400" b="1" dirty="0">
                <a:solidFill>
                  <a:srgbClr val="F5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Perto do seu evento, com evolução declarada</a:t>
            </a:r>
            <a:endParaRPr lang="en-US" sz="3400" dirty="0"/>
          </a:p>
        </p:txBody>
      </p:sp>
      <p:sp>
        <p:nvSpPr>
          <p:cNvPr id="5" name="Shape 2"/>
          <p:cNvSpPr/>
          <p:nvPr/>
        </p:nvSpPr>
        <p:spPr>
          <a:xfrm>
            <a:off x="713232" y="2258568"/>
            <a:ext cx="91440" cy="91440"/>
          </a:xfrm>
          <a:prstGeom prst="ellipse">
            <a:avLst/>
          </a:prstGeom>
          <a:solidFill>
            <a:srgbClr val="6534FC"/>
          </a:solidFill>
          <a:ln w="12700">
            <a:solidFill>
              <a:srgbClr val="6534FC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069848" y="21031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F5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Atendimento e acompanhamento no Vale do Aço.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713232" y="2971800"/>
            <a:ext cx="91440" cy="91440"/>
          </a:xfrm>
          <a:prstGeom prst="ellipse">
            <a:avLst/>
          </a:prstGeom>
          <a:solidFill>
            <a:srgbClr val="6534FC"/>
          </a:solidFill>
          <a:ln w="12700">
            <a:solidFill>
              <a:srgbClr val="6534FC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069848" y="2816352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F5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Alinhamento antes da abertura das vendas.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713232" y="3685032"/>
            <a:ext cx="91440" cy="91440"/>
          </a:xfrm>
          <a:prstGeom prst="ellipse">
            <a:avLst/>
          </a:prstGeom>
          <a:solidFill>
            <a:srgbClr val="6534FC"/>
          </a:solidFill>
          <a:ln w="12700">
            <a:solidFill>
              <a:srgbClr val="6534FC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069848" y="3529584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F5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 de operação com a sua equipe e os seus aparelhos.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713232" y="4398264"/>
            <a:ext cx="91440" cy="91440"/>
          </a:xfrm>
          <a:prstGeom prst="ellipse">
            <a:avLst/>
          </a:prstGeom>
          <a:solidFill>
            <a:srgbClr val="6534FC"/>
          </a:solidFill>
          <a:ln w="12700">
            <a:solidFill>
              <a:srgbClr val="6534FC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1069848" y="4242816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F5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Canal e responsável definidos para o dia do evento.  [SLA a confirmar]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6858000" y="2011680"/>
            <a:ext cx="4617720" cy="2788920"/>
          </a:xfrm>
          <a:prstGeom prst="roundRect">
            <a:avLst>
              <a:gd name="adj" fmla="val 1967"/>
            </a:avLst>
          </a:prstGeom>
          <a:solidFill>
            <a:srgbClr val="16122A"/>
          </a:solidFill>
          <a:ln w="12700">
            <a:solidFill>
              <a:srgbClr val="2E2552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178040" y="228600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80" kern="0" dirty="0">
                <a:solidFill>
                  <a:srgbClr val="A98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ESTUDO  ·  SEM DATA</a:t>
            </a:r>
            <a:endParaRPr lang="en-US" sz="1050" dirty="0"/>
          </a:p>
        </p:txBody>
      </p:sp>
      <p:sp>
        <p:nvSpPr>
          <p:cNvPr id="15" name="Text 12"/>
          <p:cNvSpPr txBox="1"/>
          <p:nvPr/>
        </p:nvSpPr>
        <p:spPr>
          <a:xfrm>
            <a:off x="7178040" y="265176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5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Reconhecimento facial</a:t>
            </a:r>
            <a:endParaRPr lang="en-US" sz="1900" dirty="0"/>
          </a:p>
        </p:txBody>
      </p:sp>
      <p:sp>
        <p:nvSpPr>
          <p:cNvPr id="16" name="Text 13"/>
          <p:cNvSpPr txBox="1"/>
          <p:nvPr/>
        </p:nvSpPr>
        <p:spPr>
          <a:xfrm>
            <a:off x="7178040" y="3154680"/>
            <a:ext cx="4023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9C94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Está no roadmap. Entra na conversa quando a viabilidade operacional, o consentimento e os requisitos de LGPD estiverem resolvidos. Não é recurso disponível hoje e não tem prazo prometido.</a:t>
            </a:r>
            <a:endParaRPr lang="en-US" sz="1250" dirty="0"/>
          </a:p>
        </p:txBody>
      </p:sp>
      <p:pic>
        <p:nvPicPr>
          <p:cNvPr id="17" name="Image 1" descr="assets/eventflow_roxo_branco_transparen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291072"/>
            <a:ext cx="841248" cy="335585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1092708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6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09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bg_fin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A98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 PASSO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685800" y="1051560"/>
            <a:ext cx="7680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3600" b="1" dirty="0">
                <a:solidFill>
                  <a:srgbClr val="F5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Vamos montar o cenário</a:t>
            </a:r>
            <a:endParaRPr lang="en-US" sz="36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3600" b="1" dirty="0">
                <a:solidFill>
                  <a:srgbClr val="F5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sua próxima edição</a:t>
            </a:r>
            <a:endParaRPr lang="en-US" sz="360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3246120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A98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1307592" y="3246120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5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minutos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3017520" y="3264408"/>
            <a:ext cx="5394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9C94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Formato, público, preço e a operação que você usa hoje.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4206240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A98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1307592" y="4206240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5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Simulação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3017520" y="4224528"/>
            <a:ext cx="5394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9C94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Comparação de custo feita com os números do seu evento.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685800" y="5166360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A98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1307592" y="5166360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5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Piloto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3017520" y="5184648"/>
            <a:ext cx="5394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9C94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Jornada de compra e entrada testadas antes de abrir vendas.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685800" y="5989320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[nome do responsável]   ·   [telefone / WhatsApp]   ·   [e-mail]</a:t>
            </a:r>
            <a:endParaRPr lang="en-US" sz="1200" dirty="0"/>
          </a:p>
        </p:txBody>
      </p:sp>
      <p:pic>
        <p:nvPicPr>
          <p:cNvPr id="15" name="Image 1" descr="assets/eventflow_roxo_branco_transparen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5897880"/>
            <a:ext cx="1234440" cy="491947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Evenflow — Pitch comercial para produtores</dc:title>
  <dc:subject>PptxGenJS Presentation</dc:subject>
  <dc:creator>Evenflow</dc:creator>
  <cp:lastModifiedBy>Evenflow</cp:lastModifiedBy>
  <cp:revision>1</cp:revision>
  <dcterms:created xsi:type="dcterms:W3CDTF">2026-09-15T13:40:49Z</dcterms:created>
  <dcterms:modified xsi:type="dcterms:W3CDTF">2026-09-15T13:40:49Z</dcterms:modified>
</cp:coreProperties>
</file>